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AB8EF-D814-44DD-BA70-3F129B7AB63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B8C65-5C0D-4617-8B29-1768D42D3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21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B8C65-5C0D-4617-8B29-1768D42D35D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6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BB26-491D-12E3-556D-0A550F7F4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20554-D642-43EA-9AB4-732959E8A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BF6B-7D67-FBD8-205E-A7F14939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4C14-8FDA-EA32-913D-3878BD6E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3255-BC0E-BAFA-E3F9-E91395D2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8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75B4-A538-88BF-3C0F-E81321F9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FD4E-AFA1-501C-3763-6F006941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E15D-A173-6759-864E-6815C89C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836C9-1234-C09C-A2DC-04837653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7AE7-092F-68D4-B893-0D268ED8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7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01F7-FBCD-712F-8C59-63A6C63D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D082-A3E4-9E2C-A4B5-2A2BCDD15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7ADDE-192D-A5E6-94DF-CA9C6573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BF9D6-B02F-B581-E08F-6BBA1444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A6521-E9AC-20ED-F161-C9B0E318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26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9835-ECA1-3BEC-64CA-B515B2AC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41F1-3846-75B7-2A00-05888F308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118D0-D963-C3C3-A4BE-88E35FCC7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21D42-BE0E-26CC-97CA-5839B2A4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33D18-21C7-B385-D585-E33BB118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8E9C9-FA16-5334-8E62-785721FD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1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8040-B795-7DD4-36E6-37B44918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5324E-313B-3C7E-564C-8CDE40A82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3FE73-280C-B4D4-139F-08DD68EC0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0EA35-547C-AC64-6640-C28D58F37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017D3-A686-C08F-883F-05C65DB46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4CB56-1D4C-D5DF-0E6E-F3F3FC69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55818-3FD0-BF74-A082-EBBFB7BB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59DC6-1E5F-A456-E23B-820C18EE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49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28CE-84DA-46B5-79D8-8CDC38F4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748F1-400B-53D1-A810-35105B6C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F031E-A10A-C96B-BB6D-6F420358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21E3A-2EE0-6FCD-28BE-8120DC34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12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28BF7-9DF6-C862-2DCA-6296677E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4765B-47B5-DB3B-5992-BCA5595A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DC75B-F74E-1ABF-9997-31D306EF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8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AF91-C6A7-01F2-E720-7EEC5C9E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0C70-035F-E5B7-2A8A-1AFF9D812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56444-34E5-D364-268E-3A33158C3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FD20D-52CE-E8E0-4B57-E562A036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D925A-A55F-B7FD-5215-83AF5752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C7D3-21CC-C6A2-1238-EBE395E8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69C9-D863-0302-3746-34808659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CFB0EE-BDBD-B074-415D-F00582337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77579-E4CF-A350-0CF4-8C837A636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68642-D071-5630-A211-9DECCCEE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AA135-B39E-93A0-1B5F-3D1A7C1D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57F1-D6F9-3100-9DBD-8FD79243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75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4AB4-70FA-F50D-25CE-CF871EFB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C9289-EED0-470A-F885-37246D04D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EB2E-E34B-BF85-12D3-F1B146FC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0E7DE-C8AD-CFB1-B24C-DD74D360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612-FA33-FCDC-B22E-8CE813FD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30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9821-EA00-2682-9AC9-31890E95E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1EC6C-CF0B-463B-84CE-4628DA897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1DD57-8454-1302-5437-71A52DCC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81B11-7B00-7880-5CD2-CFAE23B9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51F5-7038-E5C9-4588-774EC2B7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3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4C588-5600-3F45-8D73-B8DA9491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F2EAD-4394-A6C3-CE4C-C9D520BA1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D3724-E51A-ABE8-4FBC-DF21B5734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CA9D3-D7C6-4E3C-830E-0CC8A0F2AB5E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5E4CB-1AD6-CF5C-87C6-7665A01CF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9AF19-8A95-CC04-7DFB-64331DCA2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67DA0-1B47-4360-96FF-F01C73DE5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10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BFF6-90A2-E0E7-D955-A1D7BC7E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2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Leak Visual Demo – Garbage Collection Simulation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AB72A-BC26-186A-302C-D5A45DC65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how unreachable objects accumulate and cause memory pressure in managed runtimes, by simulating garbage collection using dynamic data structures in C.</a:t>
            </a:r>
          </a:p>
          <a:p>
            <a:pPr marL="0" indent="0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 – O log(3) Trio: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Aakash Desai:PES1UG24CS006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Aarush Muralidhara:PES1UG24CS010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Abhay Balakrishna Doddaballapur:PES1UG24CS012</a:t>
            </a:r>
          </a:p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in C using dynamic memory allocation.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singly linked list to simulate heap memory.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directed graph to represent object references.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mark-and-sweep GC algorithm to free unreachable objects.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Graphviz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showing reachable (green) vs unreachable (red) objects</a:t>
            </a:r>
            <a:r>
              <a:rPr lang="en-IN" sz="19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78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4F73-C3C4-1AE3-03E4-71464AB9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 and Reason for Choosing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3B2AA-B85B-2280-BA16-96D943360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object references and memory allocation realistically, the project uses dynamic pointer-based data structures.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allow flexible memory usage, easy expansion, and direct modelling of how memory is linked in real runtime systems.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32ECDB-3BAF-096F-7507-9D711E9F7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539486"/>
              </p:ext>
            </p:extLst>
          </p:nvPr>
        </p:nvGraphicFramePr>
        <p:xfrm>
          <a:off x="1738086" y="2711751"/>
          <a:ext cx="8127999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832090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643335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59167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Reason for Choice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78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Singly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the heap — each node corresponds to an allocated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efficient insertion and traversal; minimal overhead compared to doubly or circular lists.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8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Directed Graph (Adjacency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one-way object references (A → B).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Realistic representation of memory references — reachability analysis works only on directed edges.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6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 Stack (implicit)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internally in the mark phase (DFS traversal).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 naturally uses the call stack, avoiding manual stack management and keeping code clean.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53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58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ACAF-4925-1DE1-4FAB-3CA3E0BF4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70491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Definition (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ObjectGraph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6311-7DDC-4C89-131A-BC00BBF20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054"/>
            <a:ext cx="10515600" cy="4351338"/>
          </a:xfrm>
        </p:spPr>
        <p:txBody>
          <a:bodyPr/>
          <a:lstStyle/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Name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ObjectGraph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ObjectGraph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Abstract Data Type that models the heap memory of a program as a directed graph,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nodes represent dynamically allocated objects and edges represent references between them.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simulate memory management and garbage collection (mark and sweep).</a:t>
            </a:r>
          </a:p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05AA6-5ECA-BE69-4EAF-3ED31FD3C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073451"/>
              </p:ext>
            </p:extLst>
          </p:nvPr>
        </p:nvGraphicFramePr>
        <p:xfrm>
          <a:off x="1944915" y="3125408"/>
          <a:ext cx="8127999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432266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919995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0211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memory block with a name, ID, mark flag, and reference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076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RefNode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directed reference from one object to another.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29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heap_head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of the linked list storing all objects (heap simulation).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4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roots[]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of Object pointers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global roots for the mark phase.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6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reachability during garbage collection (1 = reachable, 0 = unreachable).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59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92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F2FC-FE3E-2BB2-9A6F-A4DC2879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Operations &amp;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936BA-7633-06C1-CF7A-84AAC9E1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05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Operations of </a:t>
            </a:r>
            <a:r>
              <a:rPr lang="en-IN" sz="1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ObjectGraph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F5CF88-209C-0DAD-C3DB-9CB3E1C0C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70647"/>
              </p:ext>
            </p:extLst>
          </p:nvPr>
        </p:nvGraphicFramePr>
        <p:xfrm>
          <a:off x="1415143" y="1183897"/>
          <a:ext cx="8128000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971014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49983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29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create_object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Allocates a new object in the heap (linked list node).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08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add_reference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(from, 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a directed reference between two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389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gc_mark_all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Traverses all roots and marks reachable objects recursively.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54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gc_sweep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Frees all unmarked (unreachable) objects from memory.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23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write_dot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a DOT file to visualize the object graph (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Graphviz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83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final_cleanup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Frees all remaining allocated memory at program termination.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4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force_leak_scenario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Simulate and run pre-defined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165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reset_simulator_state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Clears the data/memory values from previous simulations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export_snapshot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.txt file with current heap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54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36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27A5-EED2-4CAB-D63B-E87A4B80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(Functional Demonstration)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2D2876-5748-C900-4478-6C7703009B35}"/>
              </a:ext>
            </a:extLst>
          </p:cNvPr>
          <p:cNvSpPr/>
          <p:nvPr/>
        </p:nvSpPr>
        <p:spPr>
          <a:xfrm>
            <a:off x="7249884" y="3861786"/>
            <a:ext cx="2024743" cy="10885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3FABFE-21BB-A75F-D4C6-20A41EA23865}"/>
              </a:ext>
            </a:extLst>
          </p:cNvPr>
          <p:cNvSpPr/>
          <p:nvPr/>
        </p:nvSpPr>
        <p:spPr>
          <a:xfrm>
            <a:off x="7249885" y="2419451"/>
            <a:ext cx="2024743" cy="10885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B41B03-101E-D2B4-1EB5-FD849FCEEB3A}"/>
              </a:ext>
            </a:extLst>
          </p:cNvPr>
          <p:cNvSpPr/>
          <p:nvPr/>
        </p:nvSpPr>
        <p:spPr>
          <a:xfrm>
            <a:off x="9753600" y="3872755"/>
            <a:ext cx="2024743" cy="10885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B5E6E2-C21A-7EF4-BDD4-AA7507AF6AC9}"/>
              </a:ext>
            </a:extLst>
          </p:cNvPr>
          <p:cNvSpPr/>
          <p:nvPr/>
        </p:nvSpPr>
        <p:spPr>
          <a:xfrm>
            <a:off x="7249884" y="615716"/>
            <a:ext cx="2024743" cy="108857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72E184-2B60-1A47-53AF-8BD3A49BAE80}"/>
              </a:ext>
            </a:extLst>
          </p:cNvPr>
          <p:cNvSpPr/>
          <p:nvPr/>
        </p:nvSpPr>
        <p:spPr>
          <a:xfrm>
            <a:off x="9753600" y="2179843"/>
            <a:ext cx="2024743" cy="10885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861725E-92EC-4D11-3DA9-A77DAFAF1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5658"/>
            <a:ext cx="10515600" cy="5617751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5 objects (A–E), formed references A→B→C D→E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E-&gt;A and marked A as the root for garbage collection</a:t>
            </a:r>
            <a:endParaRPr lang="en-IN" sz="18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0CFED5-240D-B081-C0F9-413187025A29}"/>
              </a:ext>
            </a:extLst>
          </p:cNvPr>
          <p:cNvCxnSpPr>
            <a:stCxn id="4" idx="0"/>
            <a:endCxn id="5" idx="4"/>
          </p:cNvCxnSpPr>
          <p:nvPr/>
        </p:nvCxnSpPr>
        <p:spPr>
          <a:xfrm flipV="1">
            <a:off x="8262256" y="3508022"/>
            <a:ext cx="1" cy="353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EE451F-55E4-2339-B8AC-FCD832588089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H="1" flipV="1">
            <a:off x="8262256" y="1704287"/>
            <a:ext cx="1" cy="715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8BEA03B-F59E-A6A2-18FD-DDD6B94A9144}"/>
              </a:ext>
            </a:extLst>
          </p:cNvPr>
          <p:cNvSpPr/>
          <p:nvPr/>
        </p:nvSpPr>
        <p:spPr>
          <a:xfrm rot="16200000" flipV="1">
            <a:off x="7717970" y="5249372"/>
            <a:ext cx="1088570" cy="6046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5A45DA-13E4-603D-03BF-1DF1D694C3BD}"/>
              </a:ext>
            </a:extLst>
          </p:cNvPr>
          <p:cNvSpPr txBox="1"/>
          <p:nvPr/>
        </p:nvSpPr>
        <p:spPr>
          <a:xfrm>
            <a:off x="6945083" y="6030254"/>
            <a:ext cx="6161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🟦 Root Object (A): Blue circle</a:t>
            </a:r>
            <a:br>
              <a:rPr lang="en-IN" dirty="0"/>
            </a:br>
            <a:r>
              <a:rPr lang="en-IN" dirty="0"/>
              <a:t>🟩 Reachable Object (B,C): Green nodes</a:t>
            </a:r>
          </a:p>
          <a:p>
            <a:r>
              <a:rPr lang="en-IN" dirty="0"/>
              <a:t>⚫ Unreachable Object (D,E): Black nodes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C92E4C-CBF7-3D85-1654-7025B62D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56" y="875943"/>
            <a:ext cx="6194086" cy="510611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92C0D5-8E23-4349-70DA-E852182B396B}"/>
              </a:ext>
            </a:extLst>
          </p:cNvPr>
          <p:cNvCxnSpPr>
            <a:stCxn id="9" idx="4"/>
            <a:endCxn id="7" idx="0"/>
          </p:cNvCxnSpPr>
          <p:nvPr/>
        </p:nvCxnSpPr>
        <p:spPr>
          <a:xfrm>
            <a:off x="10765972" y="3268414"/>
            <a:ext cx="0" cy="604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D24A8A-E315-77F1-38AF-A96D48C20BDA}"/>
              </a:ext>
            </a:extLst>
          </p:cNvPr>
          <p:cNvCxnSpPr>
            <a:stCxn id="7" idx="2"/>
            <a:endCxn id="4" idx="6"/>
          </p:cNvCxnSpPr>
          <p:nvPr/>
        </p:nvCxnSpPr>
        <p:spPr>
          <a:xfrm flipH="1" flipV="1">
            <a:off x="9274627" y="4406072"/>
            <a:ext cx="478973" cy="1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70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5C9A-A561-7545-7ABF-27E75D08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735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(Memory Status + Visualization)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03FF3-C123-3F1F-4431-637D05F32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283" y="778644"/>
            <a:ext cx="3923696" cy="189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B04044-E765-77D1-EA55-36D60FD7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282" y="2846154"/>
            <a:ext cx="3923695" cy="1874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870A95-A89F-7B0E-ACF9-DBC2126C9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759" y="4845613"/>
            <a:ext cx="3990381" cy="1895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EC3872-85ED-F99C-D692-65CF3BF01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25" y="2883076"/>
            <a:ext cx="3923696" cy="18380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E59EE-0AF1-B7C8-92AF-FBFDD9368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140" y="2846153"/>
            <a:ext cx="3910892" cy="1838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F612BD-ABE0-07E3-40DB-1B18A32576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25" y="4812717"/>
            <a:ext cx="3923696" cy="19525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526033-8359-0F5F-22FD-6ADC79FF2C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899" y="4866296"/>
            <a:ext cx="3794133" cy="187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7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A1ED-2A64-4DBF-FD36-2CAC3D2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149" y="-103401"/>
            <a:ext cx="10515600" cy="1325563"/>
          </a:xfrm>
        </p:spPr>
        <p:txBody>
          <a:bodyPr/>
          <a:lstStyle/>
          <a:p>
            <a:r>
              <a:rPr lang="en-IN" dirty="0"/>
              <a:t>Additional Implementations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987AA-7532-1946-4D7F-C097CD8C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0" y="935672"/>
            <a:ext cx="4300959" cy="5904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48854-FE11-3B3E-4E8B-A54BF629A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4" y="962765"/>
            <a:ext cx="6939303" cy="611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89D42A-FC26-0346-64C1-84798060D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370" y="1734105"/>
            <a:ext cx="5382228" cy="471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3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1F45-B4FA-C5E0-85EA-35FD1BB9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(Memory Status + Visualization)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3F6B1-8558-6442-1F78-916893498AEB}"/>
              </a:ext>
            </a:extLst>
          </p:cNvPr>
          <p:cNvSpPr txBox="1"/>
          <p:nvPr/>
        </p:nvSpPr>
        <p:spPr>
          <a:xfrm>
            <a:off x="87085" y="51385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🟦 Root Object (A): Double circle</a:t>
            </a:r>
            <a:br>
              <a:rPr lang="en-IN" dirty="0"/>
            </a:br>
            <a:r>
              <a:rPr lang="en-IN" dirty="0"/>
              <a:t>🟩 Reachable (B,C): Green nodes</a:t>
            </a:r>
            <a:br>
              <a:rPr lang="en-IN" dirty="0"/>
            </a:br>
            <a:r>
              <a:rPr lang="en-IN" dirty="0"/>
              <a:t>🟥 Unreachable (E,D): Red nodes — collected by GC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80348-73C7-94DA-A69C-B1125385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914" y="1026739"/>
            <a:ext cx="6338944" cy="4804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9D484A-A5E5-9683-DB00-C9C59D4FD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2" y="1075247"/>
            <a:ext cx="4892140" cy="394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6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ADF9-F6DA-43AF-FB2D-8C2AE9C7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103868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Concluding Remarks &amp; Division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6433-820A-3F00-DFB1-6D784C3BE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/>
              <a:t>Concluding Remarks</a:t>
            </a:r>
          </a:p>
          <a:p>
            <a:r>
              <a:rPr lang="en-IN" sz="1600" dirty="0"/>
              <a:t>The project successfully simulates a Mark-and-Sweep Garbage Collector using user-defined data structures.</a:t>
            </a:r>
          </a:p>
          <a:p>
            <a:r>
              <a:rPr lang="en-IN" sz="1600" dirty="0"/>
              <a:t>It demonstrates how unreachable objects lead to memory leaks and how garbage collection reclaims them.</a:t>
            </a:r>
          </a:p>
          <a:p>
            <a:r>
              <a:rPr lang="en-IN" sz="1600" dirty="0"/>
              <a:t>The visualization clearly shows reachable (green) and unreachable (red) objects, improving conceptual understanding.</a:t>
            </a:r>
          </a:p>
          <a:p>
            <a:r>
              <a:rPr lang="en-IN" sz="1600" dirty="0"/>
              <a:t>The implementation follows modular programming principles with multi-file structure (.h, .c, </a:t>
            </a:r>
            <a:r>
              <a:rPr lang="en-IN" sz="1600" dirty="0" err="1"/>
              <a:t>main.c</a:t>
            </a:r>
            <a:r>
              <a:rPr lang="en-IN" sz="1600" dirty="0"/>
              <a:t>).</a:t>
            </a:r>
          </a:p>
          <a:p>
            <a:r>
              <a:rPr lang="en-IN" sz="1600" dirty="0"/>
              <a:t>Proper dynamic memory handling ensures no memory leaks at program exit.</a:t>
            </a:r>
          </a:p>
          <a:p>
            <a:pPr marL="0" indent="0">
              <a:buNone/>
            </a:pPr>
            <a:r>
              <a:rPr lang="en-IN" sz="1800" b="1" u="sng" dirty="0"/>
              <a:t>Division of Work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DAE271-3C9D-C8A3-73AD-C37889C6C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69087"/>
              </p:ext>
            </p:extLst>
          </p:nvPr>
        </p:nvGraphicFramePr>
        <p:xfrm>
          <a:off x="1161142" y="4121309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279448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50457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00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Aakash Desai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C implementation, garbage collection logic, memory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115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Abhay Balakrishna </a:t>
                      </a:r>
                      <a:r>
                        <a:rPr lang="en-IN" dirty="0" err="1"/>
                        <a:t>Doddaballapur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Visualization (</a:t>
                      </a:r>
                      <a:r>
                        <a:rPr lang="en-IN" dirty="0" err="1"/>
                        <a:t>Graphviz</a:t>
                      </a:r>
                      <a:r>
                        <a:rPr lang="en-IN" dirty="0"/>
                        <a:t> DOT generation), debugging, document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2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Aarush Muralidhara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PPT design, testing, and final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20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43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793</Words>
  <Application>Microsoft Office PowerPoint</Application>
  <PresentationFormat>Widescreen</PresentationFormat>
  <Paragraphs>113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Title: Memory Leak Visual Demo – Garbage Collection Simulation </vt:lpstr>
      <vt:lpstr>Data Structures Used and Reason for Choosing</vt:lpstr>
      <vt:lpstr>ADT Definition (ObjectGraph)</vt:lpstr>
      <vt:lpstr>ADT Operations &amp; Algorithm</vt:lpstr>
      <vt:lpstr>Sample Input (Functional Demonstration)</vt:lpstr>
      <vt:lpstr>Output (Memory Status + Visualization)</vt:lpstr>
      <vt:lpstr>Additional Implementations</vt:lpstr>
      <vt:lpstr>Output (Memory Status + Visualization)</vt:lpstr>
      <vt:lpstr>Concluding Remarks &amp; Division of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Desai</dc:creator>
  <cp:lastModifiedBy>Aakash Desai</cp:lastModifiedBy>
  <cp:revision>5</cp:revision>
  <dcterms:created xsi:type="dcterms:W3CDTF">2025-11-05T14:54:45Z</dcterms:created>
  <dcterms:modified xsi:type="dcterms:W3CDTF">2025-11-13T10:41:56Z</dcterms:modified>
</cp:coreProperties>
</file>